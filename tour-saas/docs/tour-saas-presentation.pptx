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CFEFEC"/>
                </a:solidFill>
                <a:latin typeface="Liberation Sans"/>
              </a:rPr>
              <a:t>SIÊU DỰ ÁN · TRAVEL-TECH VIỆT NAM</a:t>
            </a:r>
          </a:p>
          <a:p>
            <a:r>
              <a:rPr sz="4000" b="1" i="0">
                <a:solidFill>
                  <a:srgbClr val="FFFFFF"/>
                </a:solidFill>
                <a:latin typeface="Liberation Sans"/>
              </a:rPr>
              <a:t>Trợ lý Báo giá &amp; Lịch trình Tour bằng AI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E0F2F1"/>
                </a:solidFill>
                <a:latin typeface="Liberation Sans"/>
              </a:rPr>
              <a:t>SaaS nội bộ cho agency du lịch Việt Nam tự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Liberation Sans"/>
              </a:rPr>
              <a:t>Tổng hợp nghiên cứu thị trường (có trích dẫn) + MVP đã chạy được</a:t>
            </a:r>
          </a:p>
          <a:p>
            <a:r>
              <a:rPr sz="1200" b="0" i="0">
                <a:solidFill>
                  <a:srgbClr val="D0ECEA"/>
                </a:solidFill>
                <a:latin typeface="Liberation Sans"/>
              </a:rPr>
              <a:t>Nhánh: claude/travel-booking-saas-ai-dURHV  ·  Pull Request #1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BỐI CẢNH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Cơ hội thị trường: thời điểm vàng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81% du khách Việt dự định dùng AI cho chuyến đi tới — CAO NHẤT châu Á (Agoda 2026)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Outbound bùng nổ: ~6,7 triệu lượt năm 2025 (+26%), chi trung bình ~36 triệu đ/chuyến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Nội địa: hơn 110 triệu lượt khách năm 2024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OTA ngoại chiếm ~80% thị trường online → cửa thắng là TOOLING B2B cho operator, KHÔNG phải OTA tiêu dùng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Zalo: ~77 triệu MAU — 'đường ray' giao dịch &amp; chốt tour ở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VẤN ĐỀ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Nỗi đau hiện tại của agency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Sale tốn 1–2 GIỜ để soạn một báo giá thủ công: tra giá khách sạn → gõ Excel → tính markup → format PDF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Rớt khách ngoài giờ; quy trình thủ công, dễ sai số, khó nhân bản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Phần mềm incumbent VN (TravelMaster…) mạnh sổ sách/chiết tính nhưng KHÔNG có AI, KHÔNG Zalo native</a:t>
            </a:r>
          </a:p>
          <a:p>
            <a:pPr>
              <a:spcAft>
                <a:spcPts val="1400"/>
              </a:spcAft>
            </a:pPr>
            <a:r>
              <a:rPr sz="1700" b="1" i="0">
                <a:solidFill>
                  <a:srgbClr val="1F2937"/>
                </a:solidFill>
                <a:latin typeface="Liberation Sans"/>
              </a:rPr>
              <a:t>▸ Tool AI quốc tế (Mindtrip, Layla…) chỉ là 'máy tạo ý tưởng' cho khách lẻ:</a:t>
            </a:r>
          </a:p>
          <a:p>
            <a:pPr lvl="1">
              <a:spcAft>
                <a:spcPts val="1400"/>
              </a:spcAft>
            </a:pPr>
            <a:r>
              <a:rPr sz="1500" b="0" i="0">
                <a:solidFill>
                  <a:srgbClr val="6B7280"/>
                </a:solidFill>
                <a:latin typeface="Liberation Sans"/>
              </a:rPr>
              <a:t>– Không có inventory/giá Việt Nam, không báo giá có cost/margin, không brand agency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ĐỊNH VỊ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Giải pháp — mũi nhọn (wedge)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0F766E"/>
                </a:solidFill>
                <a:latin typeface="Liberation Sans"/>
              </a:rPr>
              <a:t>Nhập yêu cầu khách (tiếng Việt) → AI dựng lịch trình + chiết tính giá trên KHO NHÀ CUNG CẤP RIÊNG → proposal có brand → chốt qua Zalo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971800"/>
            <a:ext cx="108813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971800"/>
            <a:ext cx="109728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081528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937"/>
                </a:solidFill>
                <a:latin typeface="Liberation Sans"/>
              </a:rPr>
              <a:t>MOAT · Dữ liệu giá đã đàm phán riêng</a:t>
            </a:r>
          </a:p>
          <a:p>
            <a:r>
              <a:rPr sz="1300" b="0" i="0">
                <a:solidFill>
                  <a:srgbClr val="6B7280"/>
                </a:solidFill>
                <a:latin typeface="Liberation Sans"/>
              </a:rPr>
              <a:t>Kho net rate của agency — thứ các tool toàn cầu không có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4069080"/>
            <a:ext cx="108813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069080"/>
            <a:ext cx="109728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178808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937"/>
                </a:solidFill>
                <a:latin typeface="Liberation Sans"/>
              </a:rPr>
              <a:t>MOAT · Tiếng Việt + bối cảnh địa phương</a:t>
            </a:r>
          </a:p>
          <a:p>
            <a:r>
              <a:rPr sz="1300" b="0" i="0">
                <a:solidFill>
                  <a:srgbClr val="6B7280"/>
                </a:solidFill>
                <a:latin typeface="Liberation Sans"/>
              </a:rPr>
              <a:t>Hiểu yêu cầu, viết lịch trình tự nhiên cho khách Việt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5166360"/>
            <a:ext cx="10881360" cy="96012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5166360"/>
            <a:ext cx="109728" cy="96012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76088"/>
            <a:ext cx="10424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937"/>
                </a:solidFill>
                <a:latin typeface="Liberation Sans"/>
              </a:rPr>
              <a:t>MOAT · Báo giá có cost/margin + Zalo</a:t>
            </a:r>
          </a:p>
          <a:p>
            <a:r>
              <a:rPr sz="1300" b="0" i="0">
                <a:solidFill>
                  <a:srgbClr val="6B7280"/>
                </a:solidFill>
                <a:latin typeface="Liberation Sans"/>
              </a:rPr>
              <a:t>Chiết tính chuẩn nghiệp vụ; chốt trên kênh người Việt dùng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ĐỐI THỦ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Khoảng trống: không ai làm trọn combo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10908792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018538"/>
                <a:gridCol w="2018538"/>
                <a:gridCol w="2018538"/>
                <a:gridCol w="2018538"/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Tiêu chí</a:t>
                      </a:r>
                    </a:p>
                  </a:txBody>
                  <a:tcPr marT="50800" marB="508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ToursMS</a:t>
                      </a:r>
                    </a:p>
                  </a:txBody>
                  <a:tcPr marT="50800" marB="508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TravelMaster</a:t>
                      </a:r>
                    </a:p>
                  </a:txBody>
                  <a:tcPr marT="50800" marB="508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AI quốc tế</a:t>
                      </a:r>
                    </a:p>
                  </a:txBody>
                  <a:tcPr marT="50800" marB="50800" anchor="ctr"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DỰ ÁN NÀY</a:t>
                      </a:r>
                    </a:p>
                  </a:txBody>
                  <a:tcPr marT="50800" marB="50800" anchor="ctr">
                    <a:solidFill>
                      <a:srgbClr val="0F76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Liberation Sans"/>
                        </a:rPr>
                        <a:t>AI lịch trình tiếng Việt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45309"/>
                          </a:solidFill>
                          <a:latin typeface="Liberation Sans"/>
                        </a:rPr>
                        <a:t>Quảng cáo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 có VN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47857"/>
                          </a:solidFill>
                          <a:latin typeface="Liberation Sans"/>
                        </a:rPr>
                        <a:t>Có</a:t>
                      </a:r>
                    </a:p>
                  </a:txBody>
                  <a:tcPr marT="50800" marB="50800" anchor="ctr">
                    <a:solidFill>
                      <a:srgbClr val="ECFE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Liberation Sans"/>
                        </a:rPr>
                        <a:t>Kho giá riêng + markup/VAT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45309"/>
                          </a:solidFill>
                          <a:latin typeface="Liberation Sans"/>
                        </a:rPr>
                        <a:t>Quảng cáo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47857"/>
                          </a:solidFill>
                          <a:latin typeface="Liberation Sans"/>
                        </a:rPr>
                        <a:t>Mạnh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47857"/>
                          </a:solidFill>
                          <a:latin typeface="Liberation Sans"/>
                        </a:rPr>
                        <a:t>Có</a:t>
                      </a:r>
                    </a:p>
                  </a:txBody>
                  <a:tcPr marT="50800" marB="50800" anchor="ctr">
                    <a:solidFill>
                      <a:srgbClr val="ECFE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Liberation Sans"/>
                        </a:rPr>
                        <a:t>Tích hợp Zalo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45309"/>
                          </a:solidFill>
                          <a:latin typeface="Liberation Sans"/>
                        </a:rPr>
                        <a:t>Quảng cáo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</a:t>
                      </a:r>
                    </a:p>
                  </a:txBody>
                  <a:tcPr marT="508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7490"/>
                          </a:solidFill>
                          <a:latin typeface="Liberation Sans"/>
                        </a:rPr>
                        <a:t>Roadmap</a:t>
                      </a:r>
                    </a:p>
                  </a:txBody>
                  <a:tcPr marT="50800" marB="50800" anchor="ctr">
                    <a:solidFill>
                      <a:srgbClr val="ECFE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1250" b="1" i="0">
                          <a:solidFill>
                            <a:srgbClr val="1F2937"/>
                          </a:solidFill>
                          <a:latin typeface="Liberation Sans"/>
                        </a:rPr>
                        <a:t>Dấu vết / độ tin cậy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91C1C"/>
                          </a:solidFill>
                          <a:latin typeface="Liberation Sans"/>
                        </a:rPr>
                        <a:t>Không có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47857"/>
                          </a:solidFill>
                          <a:latin typeface="Liberation Sans"/>
                        </a:rPr>
                        <a:t>Đã kiểm chứng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 i="0">
                          <a:solidFill>
                            <a:srgbClr val="B45309"/>
                          </a:solidFill>
                          <a:latin typeface="Liberation Sans"/>
                        </a:rPr>
                        <a:t>Khách lẻ</a:t>
                      </a:r>
                    </a:p>
                  </a:txBody>
                  <a:tcPr marT="50800" marB="50800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 i="0">
                          <a:solidFill>
                            <a:srgbClr val="0E7490"/>
                          </a:solidFill>
                          <a:latin typeface="Liberation Sans"/>
                        </a:rPr>
                        <a:t>Tự kiểm soát</a:t>
                      </a:r>
                    </a:p>
                  </a:txBody>
                  <a:tcPr marT="50800" marB="50800" anchor="ctr">
                    <a:solidFill>
                      <a:srgbClr val="ECFE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" y="6126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B7280"/>
                </a:solidFill>
                <a:latin typeface="Liberation Sans"/>
              </a:rPr>
              <a:t>ToursMS hứa đủ nhưng KHÔNG có dấu vết độc lập nào · TravelMaster mạnh chiết tính nhưng thiếu AI &amp; Zalo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CÁCH HOẠT ĐỘNG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Sản phẩm — luồng vận hành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69748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269748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874519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BƯỚC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937"/>
                </a:solidFill>
                <a:latin typeface="Liberation Sans"/>
              </a:rPr>
              <a:t>Yêu cầu khách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B7280"/>
                </a:solidFill>
                <a:latin typeface="Liberation Sans"/>
              </a:rPr>
              <a:t>Tiếng Việt, qua web / Zalo / tin nhắn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47288" y="1828800"/>
            <a:ext cx="269748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47288" y="1828800"/>
            <a:ext cx="269748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47288" y="1874519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BƯỚC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84448" y="26974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937"/>
                </a:solidFill>
                <a:latin typeface="Liberation Sans"/>
              </a:rPr>
              <a:t>AI dựng lịch trình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B7280"/>
                </a:solidFill>
                <a:latin typeface="Liberation Sans"/>
              </a:rPr>
              <a:t>Theo ngày + chọn dịch vụ từ kho giá riêng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54496" y="1828800"/>
            <a:ext cx="269748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54496" y="1828800"/>
            <a:ext cx="269748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4496" y="1874519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BƯỚC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26974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937"/>
                </a:solidFill>
                <a:latin typeface="Liberation Sans"/>
              </a:rPr>
              <a:t>Chiết tính giá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B7280"/>
                </a:solidFill>
                <a:latin typeface="Liberation Sans"/>
              </a:rPr>
              <a:t>net → markup → VAT → giá bán → margin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61704" y="1828800"/>
            <a:ext cx="2697480" cy="29260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061704" y="1828800"/>
            <a:ext cx="2697480" cy="64008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874519"/>
            <a:ext cx="2697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BƯỚC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98864" y="2697480"/>
            <a:ext cx="2423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F2937"/>
                </a:solidFill>
                <a:latin typeface="Liberation Sans"/>
              </a:rPr>
              <a:t>Proposal có brand</a:t>
            </a:r>
          </a:p>
          <a:p>
            <a:pPr>
              <a:spcBef>
                <a:spcPts val="800"/>
              </a:spcBef>
            </a:pPr>
            <a:r>
              <a:rPr sz="1300" b="0" i="0">
                <a:solidFill>
                  <a:srgbClr val="6B7280"/>
                </a:solidFill>
                <a:latin typeface="Liberation Sans"/>
              </a:rPr>
              <a:t>Link đẹp gửi khách / xuất PDF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120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0F766E"/>
                </a:solidFill>
                <a:latin typeface="Liberation Sans"/>
              </a:rPr>
              <a:t>Nguyên tắc khóa: GIÁ đến từ kho nhà cung cấp — AI chỉ CHỌN dịch vụ, KHÔNG bịa giá.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BÊN DƯỚI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Kiến trúc kỹ thuật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LLM (Claude) điều phối + structured JSON output cho lịch trình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Kho giá NCC = 'hard data' (RAG-ready); AI chỉ chọn serviceId có thật → chống bịa giá/hallucinate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Quote engine TÁCH RIÊNG, có unit test — phần tiền phải chuẩn như TravelMaster</a:t>
            </a:r>
          </a:p>
          <a:p>
            <a:pPr>
              <a:spcAft>
                <a:spcPts val="13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Proposal renderer: HTML có brand → in PDF; Fallback theo luật khi không có API key</a:t>
            </a:r>
          </a:p>
          <a:p>
            <a:pPr>
              <a:spcAft>
                <a:spcPts val="1300"/>
              </a:spcAft>
            </a:pPr>
            <a:r>
              <a:rPr sz="1600" b="1" i="0">
                <a:solidFill>
                  <a:srgbClr val="1F2937"/>
                </a:solidFill>
                <a:latin typeface="Liberation Sans"/>
              </a:rPr>
              <a:t>▸ Stack:</a:t>
            </a:r>
          </a:p>
          <a:p>
            <a:pPr lvl="1">
              <a:spcAft>
                <a:spcPts val="1300"/>
              </a:spcAft>
            </a:pPr>
            <a:r>
              <a:rPr sz="1400" b="0" i="0">
                <a:solidFill>
                  <a:srgbClr val="6B7280"/>
                </a:solidFill>
                <a:latin typeface="Liberation Sans"/>
              </a:rPr>
              <a:t>– Node.js / TypeScript · Express · @anthropic-ai/sdk (claude-opus-4-8) · pgvector (roadmap)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HIỆN TRẠNG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MVP đã build — chạy được ngay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Đã chạy end-to-end, nằm trong Pull Request #1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Kho giá mẫu 6 điểm đến: Đà Nẵng, Hạ Long/Hà Nội, Phú Quốc, Tokyo, Bangkok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AI sinh lịch trình + chiết tính giá + proposal có brand (link đẹp / PDF)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Phần chiết tính giá: 6/6 unit test PASS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Chạy được CẢ KHI không có API key (chế độ fallback theo luật)</a:t>
            </a:r>
          </a:p>
          <a:p>
            <a:pPr>
              <a:spcAft>
                <a:spcPts val="1200"/>
              </a:spcAft>
            </a:pPr>
            <a:r>
              <a:rPr sz="1600" b="0" i="0">
                <a:solidFill>
                  <a:srgbClr val="1F2937"/>
                </a:solidFill>
                <a:latin typeface="Liberation Sans"/>
              </a:rPr>
              <a:t>▸ Demo Phú Quốc 4 khách: net 24,8tr → tổng 32,19tr (markup 18%, VAT 10%) · lợi nhuận gộp 15,25%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KINH TẾ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Chi phí vận hành — rất nhẹ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~3,7¢ / báo giá (Haiku) → ~10–20¢ (Opus) — chọn model theo nhu cầu chất lượng vs chi phí</a:t>
            </a:r>
          </a:p>
          <a:p>
            <a:pPr>
              <a:spcAft>
                <a:spcPts val="15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Embed cả kho giá ~1 USD một lần; vector DB pgvector gần như miễn phí</a:t>
            </a:r>
          </a:p>
          <a:p>
            <a:pPr>
              <a:spcAft>
                <a:spcPts val="15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Tổng vận hành ở volume thấp: ~20–150 USD/tháng — hoàn toàn trong tầm solo/team nhỏ</a:t>
            </a:r>
          </a:p>
          <a:p>
            <a:pPr>
              <a:spcAft>
                <a:spcPts val="15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Prompt caching giảm mạnh chi phí phần input lặp lại (kho giá + hướng dẫn)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CHIẾN LƯỢC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Build vs Buy — khuyến nghị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KHÔNG buy mù: ToursMS/TourPRO chưa có review, khách hàng, hay app store nào kiểm chứng được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Buy có kiểm chứng: dùng thử ToursMS (14 ngày) + TravelMaster (trial) để benchmark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BUILD phần lõi giá trị (moat): AI tiếng Việt + kho giá riêng + Zalo</a:t>
            </a:r>
          </a:p>
          <a:p>
            <a:pPr>
              <a:spcAft>
                <a:spcPts val="1400"/>
              </a:spcAft>
            </a:pPr>
            <a:r>
              <a:rPr sz="1700" b="0" i="0">
                <a:solidFill>
                  <a:srgbClr val="1F2937"/>
                </a:solidFill>
                <a:latin typeface="Liberation Sans"/>
              </a:rPr>
              <a:t>▸ Học chuẩn chiết tính của TravelMaster (net→markup→VAT); chưa cần API vé/khách sạn live ở giai đoạn đầu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CFEFEC"/>
                </a:solidFill>
                <a:latin typeface="Liberation Sans"/>
              </a:rPr>
              <a:t>ROADMAP</a:t>
            </a:r>
          </a:p>
          <a:p>
            <a:r>
              <a:rPr sz="2600" b="1" i="0">
                <a:solidFill>
                  <a:srgbClr val="FFFFFF"/>
                </a:solidFill>
                <a:latin typeface="Liberation Sans"/>
              </a:rPr>
              <a:t>Lộ trình phát triển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554480"/>
            <a:ext cx="109728" cy="1005840"/>
          </a:xfrm>
          <a:prstGeom prst="rect">
            <a:avLst/>
          </a:prstGeom>
          <a:solidFill>
            <a:srgbClr val="0478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54480"/>
            <a:ext cx="1065276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73352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47857"/>
                </a:solidFill>
                <a:latin typeface="Liberation Sans"/>
              </a:rPr>
              <a:t>Giai đoạn 1 — XONG</a:t>
            </a:r>
          </a:p>
          <a:p>
            <a:r>
              <a:rPr sz="1400" b="0" i="0">
                <a:solidFill>
                  <a:srgbClr val="1F2937"/>
                </a:solidFill>
                <a:latin typeface="Liberation Sans"/>
              </a:rPr>
              <a:t>MVP: báo giá + lịch trình AI + proposal có brand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715768"/>
            <a:ext cx="109728" cy="100584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2715768"/>
            <a:ext cx="1065276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39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E7490"/>
                </a:solidFill>
                <a:latin typeface="Liberation Sans"/>
              </a:rPr>
              <a:t>Giai đoạn 2</a:t>
            </a:r>
          </a:p>
          <a:p>
            <a:r>
              <a:rPr sz="1400" b="0" i="0">
                <a:solidFill>
                  <a:srgbClr val="1F2937"/>
                </a:solidFill>
                <a:latin typeface="Liberation Sans"/>
              </a:rPr>
              <a:t>Tích hợp Zalo OA · Quản lý giá theo mùa / loại phòng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77056"/>
            <a:ext cx="109728" cy="100584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877056"/>
            <a:ext cx="1065276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995928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0F766E"/>
                </a:solidFill>
                <a:latin typeface="Liberation Sans"/>
              </a:rPr>
              <a:t>Giai đoạn 3</a:t>
            </a:r>
          </a:p>
          <a:p>
            <a:r>
              <a:rPr sz="1400" b="0" i="0">
                <a:solidFill>
                  <a:srgbClr val="1F2937"/>
                </a:solidFill>
                <a:latin typeface="Liberation Sans"/>
              </a:rPr>
              <a:t>Giá vé/KS live: Duffel (có VNA), RateHawk/TBO, Travelfusion (Vietjet)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038344"/>
            <a:ext cx="109728" cy="100584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5038344"/>
            <a:ext cx="10652760" cy="100584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57216"/>
            <a:ext cx="10241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937"/>
                </a:solidFill>
                <a:latin typeface="Liberation Sans"/>
              </a:rPr>
              <a:t>Giai đoạn 4</a:t>
            </a:r>
          </a:p>
          <a:p>
            <a:r>
              <a:rPr sz="1400" b="0" i="0">
                <a:solidFill>
                  <a:srgbClr val="1F2937"/>
                </a:solidFill>
                <a:latin typeface="Liberation Sans"/>
              </a:rPr>
              <a:t>Postgres + pgvector (RAG kho lớn) · Xuất PDF server-side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FFFFFF"/>
                </a:solidFill>
                <a:latin typeface="Liberation Sans"/>
              </a:rPr>
              <a:t>Kết luận &amp; bước tiếp theo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011680"/>
            <a:ext cx="10424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sz="1800" b="0" i="0">
                <a:solidFill>
                  <a:srgbClr val="FFFFFF"/>
                </a:solidFill>
                <a:latin typeface="Liberation Sans"/>
              </a:rPr>
              <a:t>▸  Khoảng trống thị trường có thật — và Việt Nam là nơi khát AI du lịch nhất châu Á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FFFFFF"/>
                </a:solidFill>
                <a:latin typeface="Liberation Sans"/>
              </a:rPr>
              <a:t>▸  MVP đã chứng minh luồng lõi; chi phí vận hành rất nhẹ (~20–150 USD/tháng)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FFFFFF"/>
                </a:solidFill>
                <a:latin typeface="Liberation Sans"/>
              </a:rPr>
              <a:t>▸  Moat = dữ liệu giá riêng + tiếng Việt + Zalo — thứ đối thủ không có</a:t>
            </a:r>
          </a:p>
          <a:p>
            <a:pPr>
              <a:spcAft>
                <a:spcPts val="1600"/>
              </a:spcAft>
            </a:pPr>
            <a:r>
              <a:rPr sz="1800" b="0" i="0">
                <a:solidFill>
                  <a:srgbClr val="FFFFFF"/>
                </a:solidFill>
                <a:latin typeface="Liberation Sans"/>
              </a:rPr>
              <a:t>▸  Tiếp theo: benchmark ToursMS/TravelMaster → build Zalo + giá theo mùa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35040"/>
            <a:ext cx="12191695" cy="8229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144768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FFFFFF"/>
                </a:solidFill>
                <a:latin typeface="Liberation Sans"/>
              </a:rPr>
              <a:t>Mã nguồn: nhánh claude/travel-booking-saas-ai-dURHV · Pull Request #1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